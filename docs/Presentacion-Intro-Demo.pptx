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CC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 ·  AZURE SRE AGENT  ·  AZURE ARC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Remediación autónoma,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fuera de Azure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22960" y="4206240"/>
            <a:ext cx="1463040" cy="41148"/>
          </a:xfrm>
          <a:prstGeom prst="rect">
            <a:avLst/>
          </a:prstGeom>
          <a:solidFill>
            <a:srgbClr val="00BBC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480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D7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Azure SRE Agent observa, diagnostica y remedia incidentes en servidores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D7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on-premises — vía Azure Arc — con la misma autonomía que en Azure.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C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 técnica  ·  Entorno de demostración para clientes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 LA SESIÓN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vamos a ver hoy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035454" cy="2423160"/>
          </a:xfrm>
          <a:prstGeom prst="rect">
            <a:avLst>
              <a:gd name="adj" fmla="val 2695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54864" cy="24231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304288"/>
            <a:ext cx="1669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B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2816352"/>
            <a:ext cx="1669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3310128"/>
            <a:ext cx="165140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la observabilidad y remediación autónoma importan fuera de Azure.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58414" y="2103120"/>
            <a:ext cx="2035454" cy="2423160"/>
          </a:xfrm>
          <a:prstGeom prst="rect">
            <a:avLst>
              <a:gd name="adj" fmla="val 2695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58414" y="2103120"/>
            <a:ext cx="54864" cy="24231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3059582" y="2304288"/>
            <a:ext cx="1669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B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059582" y="2816352"/>
            <a:ext cx="1669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59582" y="3310128"/>
            <a:ext cx="165140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Azure Arc conecta servidores externos con la misma capacidad de gestión de una VM nativa.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76749" y="2103120"/>
            <a:ext cx="2035454" cy="2423160"/>
          </a:xfrm>
          <a:prstGeom prst="rect">
            <a:avLst>
              <a:gd name="adj" fmla="val 2695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76749" y="2103120"/>
            <a:ext cx="54864" cy="24231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6" name="Text 14"/>
          <p:cNvSpPr/>
          <p:nvPr/>
        </p:nvSpPr>
        <p:spPr>
          <a:xfrm>
            <a:off x="5277917" y="2304288"/>
            <a:ext cx="1669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B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277917" y="2816352"/>
            <a:ext cx="1669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casos en vivo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77917" y="3310128"/>
            <a:ext cx="165140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operativo, aplicación web, base de datos, y una vulnerabilidad de seguridad.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95083" y="2103120"/>
            <a:ext cx="2035454" cy="2423160"/>
          </a:xfrm>
          <a:prstGeom prst="rect">
            <a:avLst>
              <a:gd name="adj" fmla="val 2695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95083" y="2103120"/>
            <a:ext cx="54864" cy="24231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1" name="Text 19"/>
          <p:cNvSpPr/>
          <p:nvPr/>
        </p:nvSpPr>
        <p:spPr>
          <a:xfrm>
            <a:off x="7496251" y="2304288"/>
            <a:ext cx="1669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B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496251" y="2816352"/>
            <a:ext cx="1669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y control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6251" y="3310128"/>
            <a:ext cx="165140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autoriza qué, y por qué el agente nunca actúa sin aprobación humana.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13418" y="2103120"/>
            <a:ext cx="2035454" cy="2423160"/>
          </a:xfrm>
          <a:prstGeom prst="rect">
            <a:avLst>
              <a:gd name="adj" fmla="val 2695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13418" y="2103120"/>
            <a:ext cx="54864" cy="24231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6" name="Text 24"/>
          <p:cNvSpPr/>
          <p:nvPr/>
        </p:nvSpPr>
        <p:spPr>
          <a:xfrm>
            <a:off x="9714586" y="2304288"/>
            <a:ext cx="1669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B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714586" y="2816352"/>
            <a:ext cx="1669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714586" y="3310128"/>
            <a:ext cx="165140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cuesta realmente habilitar esta capacidad sobre infraestructura existente.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5029200"/>
            <a:ext cx="10908792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2578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caso se muestra en vivo sobre infraestructura real, conectada mediante Azure Arc — nada de lo que verán está simulado en pantalla.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0A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infraestructura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0A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vive solo en Azure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on-premises, en otra nube o en un datacenter propio no tienen hoy el mismo nivel de observabilidad y remediación automática que una VM nativa de Azure.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54864" cy="21945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3657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A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Arc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96112" y="44348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Esos servidores quedan fuera del alcance de Azure Monitor y del SRE Agent — sin inventario, sin telemetría, sin remediación asistida.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822960"/>
            <a:ext cx="5239512" cy="1463040"/>
          </a:xfrm>
          <a:prstGeom prst="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822960"/>
            <a:ext cx="54864" cy="14630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00584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Fuera de Azure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1417320"/>
            <a:ext cx="4782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on-premises o en otra nube, sin integración nativa de IA de confiabilidad.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514600"/>
            <a:ext cx="5239512" cy="1463040"/>
          </a:xfrm>
          <a:prstGeom prst="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514600"/>
            <a:ext cx="54864" cy="14630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69748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 manual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3108960"/>
            <a:ext cx="4782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ingenieros diagnostican y remedian incidentes a mano, muchas veces fuera de horario.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4206240"/>
            <a:ext cx="5239512" cy="1463040"/>
          </a:xfrm>
          <a:prstGeom prst="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4206240"/>
            <a:ext cx="54864" cy="14630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438912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Brecha de seguridad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4800600"/>
            <a:ext cx="4782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Vulnerabilidades reales — permisos excesivos, configuración insegura — sin ticket ni dueño.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puente: Azure Arc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Arc conecta servidores fuera de Azure al plano de control de Azure, habilitando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inventario, telemetría y ejecución remota de comandos — la misma base que usa el agente.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418588" cy="1417320"/>
          </a:xfrm>
          <a:prstGeom prst="rect">
            <a:avLst>
              <a:gd name="adj" fmla="val 5161"/>
            </a:avLst>
          </a:prstGeom>
          <a:solidFill>
            <a:srgbClr val="0A2C6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50008"/>
            <a:ext cx="20528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on-premises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990088"/>
            <a:ext cx="2052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/ Windows, fuera de Azure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95244" y="2656332"/>
            <a:ext cx="338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70148" y="2148840"/>
            <a:ext cx="2418588" cy="1417320"/>
          </a:xfrm>
          <a:prstGeom prst="rect">
            <a:avLst>
              <a:gd name="adj" fmla="val 5161"/>
            </a:avLst>
          </a:prstGeom>
          <a:solidFill>
            <a:srgbClr val="0078D4"/>
          </a:solidFill>
          <a:ln/>
        </p:spPr>
      </p:sp>
      <p:sp>
        <p:nvSpPr>
          <p:cNvPr id="10" name="Text 8"/>
          <p:cNvSpPr/>
          <p:nvPr/>
        </p:nvSpPr>
        <p:spPr>
          <a:xfrm>
            <a:off x="3653028" y="2350008"/>
            <a:ext cx="20528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Arc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3028" y="2990088"/>
            <a:ext cx="2052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Compute: puente de conectividad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25312" y="2656332"/>
            <a:ext cx="338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00216" y="2148840"/>
            <a:ext cx="2418588" cy="1417320"/>
          </a:xfrm>
          <a:prstGeom prst="rect">
            <a:avLst>
              <a:gd name="adj" fmla="val 5161"/>
            </a:avLst>
          </a:prstGeom>
          <a:solidFill>
            <a:srgbClr val="0078D4"/>
          </a:solidFill>
          <a:ln/>
        </p:spPr>
      </p:sp>
      <p:sp>
        <p:nvSpPr>
          <p:cNvPr id="14" name="Text 12"/>
          <p:cNvSpPr/>
          <p:nvPr/>
        </p:nvSpPr>
        <p:spPr>
          <a:xfrm>
            <a:off x="6483096" y="2350008"/>
            <a:ext cx="20528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Analytics y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Monitor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83096" y="2990088"/>
            <a:ext cx="2052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8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Telemetría y alertas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755380" y="2656332"/>
            <a:ext cx="338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130284" y="2148840"/>
            <a:ext cx="2418588" cy="1417320"/>
          </a:xfrm>
          <a:prstGeom prst="rect">
            <a:avLst>
              <a:gd name="adj" fmla="val 5161"/>
            </a:avLst>
          </a:prstGeom>
          <a:solidFill>
            <a:srgbClr val="00BBC3"/>
          </a:solidFill>
          <a:ln/>
        </p:spPr>
      </p:sp>
      <p:sp>
        <p:nvSpPr>
          <p:cNvPr id="18" name="Text 16"/>
          <p:cNvSpPr/>
          <p:nvPr/>
        </p:nvSpPr>
        <p:spPr>
          <a:xfrm>
            <a:off x="9313164" y="2350008"/>
            <a:ext cx="20528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A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SRE Agent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13164" y="2990088"/>
            <a:ext cx="2052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A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Diagnostica y propone remediación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0" cy="1371600"/>
          </a:xfrm>
          <a:prstGeom prst="line">
            <a:avLst/>
          </a:prstGeom>
          <a:noFill/>
          <a:ln w="25400">
            <a:solidFill>
              <a:srgbClr val="C9D4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393192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A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privilegios especiales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" y="448056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ejecuta con el mismo alcance que un administrador local: root en Linux, SYSTEM en Windows.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98264" y="3931920"/>
            <a:ext cx="0" cy="1371600"/>
          </a:xfrm>
          <a:prstGeom prst="line">
            <a:avLst/>
          </a:prstGeom>
          <a:noFill/>
          <a:ln w="25400">
            <a:solidFill>
              <a:srgbClr val="C9D4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393192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A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con aprobación humana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99432" y="448056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acción en modo Revisión requiere un clic explícito de “Approve action”.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56448" y="3931920"/>
            <a:ext cx="0" cy="1371600"/>
          </a:xfrm>
          <a:prstGeom prst="line">
            <a:avLst/>
          </a:prstGeom>
          <a:noFill/>
          <a:ln w="25400">
            <a:solidFill>
              <a:srgbClr val="C9D4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57616" y="393192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A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acotado al recurso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57616" y="448056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solo tiene permisos sobre los grupos de recursos autorizados explícitamente.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VAN A VER EN VIVO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casos de uso reales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17236" cy="1417320"/>
          </a:xfrm>
          <a:prstGeom prst="rect">
            <a:avLst>
              <a:gd name="adj" fmla="val 3871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29968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011680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operativo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423160"/>
            <a:ext cx="42656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servicio crítico cae en el servidor Linux on-premises simulado. El agente diagnostica y propone la remediación.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828800"/>
            <a:ext cx="5317236" cy="1417320"/>
          </a:xfrm>
          <a:prstGeom prst="rect">
            <a:avLst>
              <a:gd name="adj" fmla="val 3871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0236" y="2029968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6460236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54596" y="2011680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web (IIS)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54596" y="2423160"/>
            <a:ext cx="42656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Application Pool se detiene en el servidor Windows. El agente identifica la causa y reinicia el servicio con aprobación.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5317236" cy="1417320"/>
          </a:xfrm>
          <a:prstGeom prst="rect">
            <a:avLst>
              <a:gd name="adj" fmla="val 3871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721608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703320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(SQL)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114800"/>
            <a:ext cx="42656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sesión bloqueadora real congela las escrituras. El agente identifica la sesión exacta y propone finalizarla.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520440"/>
            <a:ext cx="5317236" cy="1417320"/>
          </a:xfrm>
          <a:prstGeom prst="rect">
            <a:avLst>
              <a:gd name="adj" fmla="val 3871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0236" y="3721608"/>
            <a:ext cx="457200" cy="457200"/>
          </a:xfrm>
          <a:prstGeom prst="ellipse">
            <a:avLst/>
          </a:prstGeom>
          <a:solidFill>
            <a:srgbClr val="0A2C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60236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54596" y="3703320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(Defender)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54596" y="4114800"/>
            <a:ext cx="42656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Defender detecta una vulnerabilidad real. El agente investiga, crea un GitHub Issue y abre un Pull Request, de forma autónoma.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440680"/>
            <a:ext cx="10908792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692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los casos 1–3, el presentador aprueba la remediación en vivo. En el caso 4, el foco es la detección y generación autónoma del ticket y la propuesta de corrección.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Y CONTROL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303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0A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nunca actúa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0A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autorización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54864" cy="9601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514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de usuario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86207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roles: Reader, Standard User, Author y Administrator. Solo Administrator puede aprobar acciones.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630168"/>
            <a:ext cx="54864" cy="9601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6301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de ejecución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— requiere aprobación explícita (usado en esta demo) — o Autónomo, acotado a tareas de bajo riesgo preaprobadas.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745736"/>
            <a:ext cx="54864" cy="9601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7457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a nivel de recurso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0932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solo tiene permisos de Azure sobre los grupos de recursos que el cliente le autorice explícitamente.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92240" y="822960"/>
            <a:ext cx="5056632" cy="5120640"/>
          </a:xfrm>
          <a:prstGeom prst="rect">
            <a:avLst>
              <a:gd name="adj" fmla="val 1447"/>
            </a:avLst>
          </a:prstGeom>
          <a:solidFill>
            <a:srgbClr val="0A2C6E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1325880"/>
            <a:ext cx="4507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BB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6766560" y="2423160"/>
            <a:ext cx="4507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acciones de remediación requieren aprobación humana en esta demo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766560" y="3566160"/>
            <a:ext cx="1097280" cy="32004"/>
          </a:xfrm>
          <a:prstGeom prst="rect">
            <a:avLst/>
          </a:prstGeom>
          <a:solidFill>
            <a:srgbClr val="5CC6F5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3840480"/>
            <a:ext cx="45079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7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Arc otorga a la automatización el mismo alcance que un administrador local (root o SYSTEM) — por diseño, igual que cualquier herramienta de gestión de configuración tradicional. El control real está en quién autoriza, no en limitar el comando.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ESPECIAL — BASE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0A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segura a SQL,</a:t>
            </a:r>
            <a:endParaRPr lang="en-US" sz="2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0A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contraseñas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producción, la automatización no debería depender de una contraseña de administrador en un archivo local. El patrón recomendado por Microsoft: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292608" cy="292608"/>
          </a:xfrm>
          <a:prstGeom prst="ellipse">
            <a:avLst/>
          </a:prstGeom>
          <a:solidFill>
            <a:srgbClr val="00BBC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97280" y="291693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Entra ID — autenticación nativa en SQL Server 2022+, sin usuarios ni contraseñas tradicionales.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685032"/>
            <a:ext cx="292608" cy="292608"/>
          </a:xfrm>
          <a:prstGeom prst="ellipse">
            <a:avLst/>
          </a:prstGeom>
          <a:solidFill>
            <a:srgbClr val="00BBC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685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97280" y="363016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Identity — el agente se autentica sin secretos distribuidos manualmente.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398264"/>
            <a:ext cx="292608" cy="292608"/>
          </a:xfrm>
          <a:prstGeom prst="ellipse">
            <a:avLst/>
          </a:prstGeom>
          <a:solidFill>
            <a:srgbClr val="00BBC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398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97280" y="43434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Key Vault — resguarda el certificado de confianza; nunca vive en disco local.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5111496"/>
            <a:ext cx="292608" cy="292608"/>
          </a:xfrm>
          <a:prstGeom prst="ellipse">
            <a:avLst/>
          </a:prstGeom>
          <a:solidFill>
            <a:srgbClr val="00BBC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111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" y="505663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Endpoint + DNS privada — el Key Vault solo es alcanzable desde la red interna.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822960"/>
            <a:ext cx="5056632" cy="5120640"/>
          </a:xfrm>
          <a:prstGeom prst="rect">
            <a:avLst>
              <a:gd name="adj" fmla="val 1447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078992"/>
            <a:ext cx="4507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autenticación segura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1600200"/>
            <a:ext cx="4507992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600200"/>
            <a:ext cx="4233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SRE Agent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66560" y="2258568"/>
            <a:ext cx="4507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66560" y="2496312"/>
            <a:ext cx="4507992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2496312"/>
            <a:ext cx="4233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Identity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66560" y="3154680"/>
            <a:ext cx="4507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66560" y="3392424"/>
            <a:ext cx="4507992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3392424"/>
            <a:ext cx="4233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Entra ID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66560" y="4050792"/>
            <a:ext cx="4507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66560" y="4288536"/>
            <a:ext cx="4507992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4288536"/>
            <a:ext cx="4233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en Key Vault (Private Endpoint)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66560" y="4946904"/>
            <a:ext cx="4507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766560" y="5184648"/>
            <a:ext cx="4507992" cy="658368"/>
          </a:xfrm>
          <a:prstGeom prst="rect">
            <a:avLst>
              <a:gd name="adj" fmla="val 6944"/>
            </a:avLst>
          </a:prstGeom>
          <a:solidFill>
            <a:srgbClr val="0A2C6E"/>
          </a:solidFill>
          <a:ln w="15875">
            <a:solidFill>
              <a:srgbClr val="0078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5184648"/>
            <a:ext cx="4233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(Arc-enabled)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0A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 cuesta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0A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habilitar esto?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Estimación para 2 servidores on-premises reales. No incluye el cómputo de las VMs, que en la demo solo simulan servidores que el cliente ya posee.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Arc (Hybrid Compute)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120" y="32461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630168"/>
            <a:ext cx="5120640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7581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Analytics (ingesta y retención)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37581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~$5–10/mes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142232"/>
            <a:ext cx="5120640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2702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Defender for Servers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42702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~$30/mes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654296"/>
            <a:ext cx="5120640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7823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Defender for SQL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47823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~$15/mes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166360"/>
            <a:ext cx="5120640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2943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Monitor (alertas)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0" y="52943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~$2–5/mes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678424"/>
            <a:ext cx="5120640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806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~$52–60/mes  ·  Azure SRE Agent no incluido (ver nota en la tarjeta)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92240" y="822960"/>
            <a:ext cx="5056632" cy="5120640"/>
          </a:xfrm>
          <a:prstGeom prst="rect">
            <a:avLst>
              <a:gd name="adj" fmla="val 1447"/>
            </a:avLst>
          </a:prstGeom>
          <a:solidFill>
            <a:srgbClr val="0A2C6E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417320"/>
            <a:ext cx="4507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BB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~$52–60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6766560" y="2423160"/>
            <a:ext cx="4507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al mes, por cada 2 servidores on-premises reales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766560" y="3337560"/>
            <a:ext cx="1097280" cy="32004"/>
          </a:xfrm>
          <a:prstGeom prst="rect">
            <a:avLst/>
          </a:prstGeom>
          <a:solidFill>
            <a:srgbClr val="5CC6F5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3611880"/>
            <a:ext cx="4507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7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costo incremental de dar a la infraestructura existente esta capacidad de observabilidad y remediación autónoma es bajo, frente al costo de horas de guardia o un incidente no resuelto a tiempo.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66560" y="4983480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A9C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del Azure SRE Agent (always-on + uso activo): variable según consumo real — ver portal del agente.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SIGUE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2: un agente a su medida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clientes que necesiten mayor personalización: un agente de Azure AI Foundry con visibilidad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el mismo inventario de Arc, expuesto a través de un frontend de chat propio.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10908792" cy="0"/>
          </a:xfrm>
          <a:prstGeom prst="line">
            <a:avLst/>
          </a:prstGeom>
          <a:noFill/>
          <a:ln w="25400">
            <a:solidFill>
              <a:srgbClr val="D6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18513" y="2706624"/>
            <a:ext cx="164592" cy="164592"/>
          </a:xfrm>
          <a:prstGeom prst="ellipse">
            <a:avLst/>
          </a:prstGeom>
          <a:solidFill>
            <a:srgbClr val="00BBC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154680"/>
            <a:ext cx="2521458" cy="2788920"/>
          </a:xfrm>
          <a:prstGeom prst="rect">
            <a:avLst>
              <a:gd name="adj" fmla="val 2176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55848"/>
            <a:ext cx="2155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215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SRE Agent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21556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estándar de Microsoft, ya validado en los 4 casos de uso de esta demo.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4291" y="2706624"/>
            <a:ext cx="164592" cy="164592"/>
          </a:xfrm>
          <a:prstGeom prst="ellipse">
            <a:avLst/>
          </a:prstGeom>
          <a:solidFill>
            <a:srgbClr val="0078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35858" y="3154680"/>
            <a:ext cx="2521458" cy="2788920"/>
          </a:xfrm>
          <a:prstGeom prst="rect">
            <a:avLst>
              <a:gd name="adj" fmla="val 2176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8738" y="3355848"/>
            <a:ext cx="2155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8738" y="3657600"/>
            <a:ext cx="215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Foundry a medida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8738" y="4389120"/>
            <a:ext cx="21556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inventario de Arc; modelo y lógica personalizables por el cliente.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10069" y="2706624"/>
            <a:ext cx="164592" cy="164592"/>
          </a:xfrm>
          <a:prstGeom prst="ellipse">
            <a:avLst/>
          </a:prstGeom>
          <a:solidFill>
            <a:srgbClr val="0078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1636" y="3154680"/>
            <a:ext cx="2521458" cy="2788920"/>
          </a:xfrm>
          <a:prstGeom prst="rect">
            <a:avLst>
              <a:gd name="adj" fmla="val 2176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4516" y="3355848"/>
            <a:ext cx="2155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14516" y="3657600"/>
            <a:ext cx="215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de chat propio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14516" y="4389120"/>
            <a:ext cx="21556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web propia (basada en la demo de FinOps existente) conectada al agente.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205847" y="2706624"/>
            <a:ext cx="164592" cy="164592"/>
          </a:xfrm>
          <a:prstGeom prst="ellipse">
            <a:avLst/>
          </a:prstGeom>
          <a:solidFill>
            <a:srgbClr val="0078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27414" y="3154680"/>
            <a:ext cx="2521458" cy="2788920"/>
          </a:xfrm>
          <a:prstGeom prst="rect">
            <a:avLst>
              <a:gd name="adj" fmla="val 2176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10294" y="3355848"/>
            <a:ext cx="2155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10294" y="3657600"/>
            <a:ext cx="215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 ampliados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10294" y="4389120"/>
            <a:ext cx="215569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extiende el agente a sus propios flujos de negocio y datos.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09167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5CC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Observar, diagnosticar,</a:t>
            </a:r>
            <a:endParaRPr lang="en-US" sz="3800" dirty="0"/>
          </a:p>
          <a:p>
            <a:pPr indent="0" marL="0">
              <a:lnSpc>
                <a:spcPts val="45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remediar — en cualquier lugar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3840480"/>
            <a:ext cx="1463040" cy="41148"/>
          </a:xfrm>
          <a:prstGeom prst="rect">
            <a:avLst/>
          </a:prstGeom>
          <a:solidFill>
            <a:srgbClr val="00BBC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1148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D7D7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SRE Agent y Azure Arc llevan la misma inteligencia operativa de Azure a cualquier servidor, en cualquier nube o datacenter, con control humano en cada paso.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y próximos pasos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SRE Agent + Azure Arc — Remediación Autónoma Fuera de Azure</dc:title>
  <dc:subject>Azure SRE Agent + Azure Arc — Customer Demo</dc:subject>
  <dc:creator>Jorge Zapata</dc:creator>
  <cp:lastModifiedBy>Jorge Zapata</cp:lastModifiedBy>
  <cp:revision>1</cp:revision>
  <dcterms:created xsi:type="dcterms:W3CDTF">2026-10-25T19:01:42Z</dcterms:created>
  <dcterms:modified xsi:type="dcterms:W3CDTF">2026-10-25T19:01:42Z</dcterms:modified>
</cp:coreProperties>
</file>